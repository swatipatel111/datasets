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54781" y="1240358"/>
            <a:ext cx="6282436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395983" y="2421635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9407271" y="0"/>
                </a:lnTo>
              </a:path>
            </a:pathLst>
          </a:custGeom>
          <a:ln w="15240">
            <a:solidFill>
              <a:srgbClr val="AB93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21889" y="1240358"/>
            <a:ext cx="634822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4394" y="2569210"/>
            <a:ext cx="9443211" cy="314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688830" y="6029455"/>
            <a:ext cx="509904" cy="16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47933" y="6029455"/>
            <a:ext cx="195579" cy="16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692907" y="3521964"/>
            <a:ext cx="6816090" cy="0"/>
          </a:xfrm>
          <a:custGeom>
            <a:avLst/>
            <a:gdLst/>
            <a:ahLst/>
            <a:cxnLst/>
            <a:rect l="l" t="t" r="r" b="b"/>
            <a:pathLst>
              <a:path w="6816090">
                <a:moveTo>
                  <a:pt x="0" y="0"/>
                </a:moveTo>
                <a:lnTo>
                  <a:pt x="6815709" y="0"/>
                </a:lnTo>
              </a:path>
            </a:pathLst>
          </a:custGeom>
          <a:ln w="15240">
            <a:solidFill>
              <a:srgbClr val="AB93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8620" y="1816989"/>
            <a:ext cx="63385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marR="5080" indent="-413384" algn="ctr">
              <a:lnSpc>
                <a:spcPct val="100000"/>
              </a:lnSpc>
              <a:spcBef>
                <a:spcPts val="100"/>
              </a:spcBef>
              <a:tabLst>
                <a:tab pos="5029835" algn="l"/>
              </a:tabLst>
            </a:pPr>
            <a:r>
              <a:rPr sz="4800" spc="-225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4800" spc="-204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4800" spc="-75" dirty="0">
                <a:solidFill>
                  <a:srgbClr val="252525"/>
                </a:solidFill>
                <a:latin typeface="Times New Roman"/>
                <a:cs typeface="Times New Roman"/>
              </a:rPr>
              <a:t>hin</a:t>
            </a:r>
            <a:r>
              <a:rPr sz="4800" spc="-7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4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4800" spc="-135" dirty="0">
                <a:solidFill>
                  <a:srgbClr val="252525"/>
                </a:solidFill>
                <a:latin typeface="Times New Roman"/>
                <a:cs typeface="Times New Roman"/>
              </a:rPr>
              <a:t>Lea</a:t>
            </a:r>
            <a:r>
              <a:rPr sz="48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4800" spc="-100" dirty="0">
                <a:solidFill>
                  <a:srgbClr val="252525"/>
                </a:solidFill>
                <a:latin typeface="Times New Roman"/>
                <a:cs typeface="Times New Roman"/>
              </a:rPr>
              <a:t>nin</a:t>
            </a:r>
            <a:r>
              <a:rPr sz="4800" spc="-11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4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4800" spc="-130" dirty="0">
                <a:solidFill>
                  <a:srgbClr val="252525"/>
                </a:solidFill>
                <a:latin typeface="Times New Roman"/>
                <a:cs typeface="Times New Roman"/>
              </a:rPr>
              <a:t>Using</a:t>
            </a:r>
            <a:r>
              <a:rPr sz="4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4800" spc="-30" dirty="0">
                <a:solidFill>
                  <a:srgbClr val="252525"/>
                </a:solidFill>
                <a:latin typeface="Times New Roman"/>
                <a:cs typeface="Times New Roman"/>
              </a:rPr>
              <a:t>Python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0029" y="3670172"/>
            <a:ext cx="1562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5" dirty="0">
                <a:latin typeface="Times New Roman"/>
                <a:cs typeface="Times New Roman"/>
              </a:rPr>
              <a:t>-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152" y="1240358"/>
            <a:ext cx="5936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What</a:t>
            </a:r>
            <a:r>
              <a:rPr spc="-20" dirty="0"/>
              <a:t> </a:t>
            </a:r>
            <a:r>
              <a:rPr spc="-160" dirty="0"/>
              <a:t>is</a:t>
            </a:r>
            <a:r>
              <a:rPr spc="-15" dirty="0"/>
              <a:t> </a:t>
            </a:r>
            <a:r>
              <a:rPr spc="-125" dirty="0"/>
              <a:t>Machine</a:t>
            </a:r>
            <a:r>
              <a:rPr spc="-15" dirty="0"/>
              <a:t> </a:t>
            </a:r>
            <a:r>
              <a:rPr spc="-120" dirty="0"/>
              <a:t>Learning?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57018"/>
            <a:ext cx="944499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spc="-14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3200" spc="-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25" dirty="0">
                <a:solidFill>
                  <a:srgbClr val="252525"/>
                </a:solidFill>
                <a:latin typeface="Times New Roman"/>
                <a:cs typeface="Times New Roman"/>
              </a:rPr>
              <a:t>subset </a:t>
            </a:r>
            <a:r>
              <a:rPr sz="32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artificial </a:t>
            </a:r>
            <a:r>
              <a:rPr sz="3200" b="1" spc="15" dirty="0">
                <a:solidFill>
                  <a:srgbClr val="252525"/>
                </a:solidFill>
                <a:latin typeface="Times New Roman"/>
                <a:cs typeface="Times New Roman"/>
              </a:rPr>
              <a:t>intelligence </a:t>
            </a:r>
            <a:r>
              <a:rPr sz="32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(AI) </a:t>
            </a:r>
            <a:r>
              <a:rPr sz="3200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3200" spc="-55" dirty="0">
                <a:solidFill>
                  <a:srgbClr val="252525"/>
                </a:solidFill>
                <a:latin typeface="Times New Roman"/>
                <a:cs typeface="Times New Roman"/>
              </a:rPr>
              <a:t>focuses </a:t>
            </a:r>
            <a:r>
              <a:rPr sz="3200" spc="35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32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70" dirty="0">
                <a:solidFill>
                  <a:srgbClr val="252525"/>
                </a:solidFill>
                <a:latin typeface="Times New Roman"/>
                <a:cs typeface="Times New Roman"/>
              </a:rPr>
              <a:t>developing </a:t>
            </a:r>
            <a:r>
              <a:rPr sz="32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algorithms </a:t>
            </a:r>
            <a:r>
              <a:rPr sz="3200" spc="-35" dirty="0">
                <a:solidFill>
                  <a:srgbClr val="252525"/>
                </a:solidFill>
                <a:latin typeface="Times New Roman"/>
                <a:cs typeface="Times New Roman"/>
              </a:rPr>
              <a:t>and </a:t>
            </a:r>
            <a:r>
              <a:rPr sz="3200" b="1" spc="30" dirty="0">
                <a:solidFill>
                  <a:srgbClr val="252525"/>
                </a:solidFill>
                <a:latin typeface="Times New Roman"/>
                <a:cs typeface="Times New Roman"/>
              </a:rPr>
              <a:t>models </a:t>
            </a:r>
            <a:r>
              <a:rPr sz="3200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3200" spc="-65" dirty="0">
                <a:solidFill>
                  <a:srgbClr val="252525"/>
                </a:solidFill>
                <a:latin typeface="Times New Roman"/>
                <a:cs typeface="Times New Roman"/>
              </a:rPr>
              <a:t>enable </a:t>
            </a:r>
            <a:r>
              <a:rPr sz="3200" spc="-25" dirty="0">
                <a:solidFill>
                  <a:srgbClr val="252525"/>
                </a:solidFill>
                <a:latin typeface="Times New Roman"/>
                <a:cs typeface="Times New Roman"/>
              </a:rPr>
              <a:t>computers </a:t>
            </a:r>
            <a:r>
              <a:rPr sz="32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40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3200" spc="-55" dirty="0">
                <a:solidFill>
                  <a:srgbClr val="252525"/>
                </a:solidFill>
                <a:latin typeface="Times New Roman"/>
                <a:cs typeface="Times New Roman"/>
              </a:rPr>
              <a:t>learn</a:t>
            </a:r>
            <a:r>
              <a:rPr sz="32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3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32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32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100" dirty="0">
                <a:solidFill>
                  <a:srgbClr val="252525"/>
                </a:solidFill>
                <a:latin typeface="Times New Roman"/>
                <a:cs typeface="Times New Roman"/>
              </a:rPr>
              <a:t>make</a:t>
            </a:r>
            <a:r>
              <a:rPr sz="3200" spc="-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predictions</a:t>
            </a:r>
            <a:r>
              <a:rPr sz="32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15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3200" b="1" spc="35" dirty="0">
                <a:solidFill>
                  <a:srgbClr val="252525"/>
                </a:solidFill>
                <a:latin typeface="Times New Roman"/>
                <a:cs typeface="Times New Roman"/>
              </a:rPr>
              <a:t>decisions </a:t>
            </a:r>
            <a:r>
              <a:rPr sz="3200" b="1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252525"/>
                </a:solidFill>
                <a:latin typeface="Times New Roman"/>
                <a:cs typeface="Times New Roman"/>
              </a:rPr>
              <a:t>without</a:t>
            </a:r>
            <a:r>
              <a:rPr sz="3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75" dirty="0">
                <a:solidFill>
                  <a:srgbClr val="252525"/>
                </a:solidFill>
                <a:latin typeface="Times New Roman"/>
                <a:cs typeface="Times New Roman"/>
              </a:rPr>
              <a:t>being</a:t>
            </a:r>
            <a:r>
              <a:rPr sz="3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114" dirty="0">
                <a:solidFill>
                  <a:srgbClr val="252525"/>
                </a:solidFill>
                <a:latin typeface="Times New Roman"/>
                <a:cs typeface="Times New Roman"/>
              </a:rPr>
              <a:t>explicitly</a:t>
            </a:r>
            <a:r>
              <a:rPr sz="3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252525"/>
                </a:solidFill>
                <a:latin typeface="Times New Roman"/>
                <a:cs typeface="Times New Roman"/>
              </a:rPr>
              <a:t>programmed.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2141" y="1240358"/>
            <a:ext cx="5346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Machine</a:t>
            </a:r>
            <a:r>
              <a:rPr spc="-20" dirty="0"/>
              <a:t> </a:t>
            </a:r>
            <a:r>
              <a:rPr spc="-95" dirty="0"/>
              <a:t>Learning</a:t>
            </a:r>
            <a:r>
              <a:rPr spc="-5" dirty="0"/>
              <a:t> </a:t>
            </a:r>
            <a:r>
              <a:rPr spc="-165" dirty="0"/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63267" y="2554223"/>
            <a:ext cx="8159750" cy="3017520"/>
            <a:chOff x="1763267" y="2554223"/>
            <a:chExt cx="8159750" cy="3017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3808" y="3185159"/>
              <a:ext cx="3838955" cy="2712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3808" y="3185159"/>
              <a:ext cx="2313432" cy="2712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1808" y="3185159"/>
              <a:ext cx="1548384" cy="271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760" y="3185159"/>
              <a:ext cx="2313432" cy="2712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9235" y="3185159"/>
              <a:ext cx="3838955" cy="2712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62015" y="2554223"/>
              <a:ext cx="1267967" cy="6385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3267" y="4079747"/>
              <a:ext cx="205739" cy="14919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3267" y="4079747"/>
              <a:ext cx="205739" cy="5958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90315" y="4079747"/>
              <a:ext cx="204215" cy="14919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90315" y="4079747"/>
              <a:ext cx="204215" cy="59588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754115" y="2622296"/>
            <a:ext cx="683260" cy="447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13335">
              <a:lnSpc>
                <a:spcPts val="1520"/>
              </a:lnSpc>
              <a:spcBef>
                <a:spcPts val="380"/>
              </a:spcBef>
            </a:pP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Machine </a:t>
            </a:r>
            <a:r>
              <a:rPr sz="1500" spc="-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Lea</a:t>
            </a:r>
            <a:r>
              <a:rPr sz="1500" spc="2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5920" y="3448811"/>
            <a:ext cx="1269492" cy="63855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861566" y="3518154"/>
            <a:ext cx="836294" cy="447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88900" marR="5080" indent="-76200">
              <a:lnSpc>
                <a:spcPts val="1520"/>
              </a:lnSpc>
              <a:spcBef>
                <a:spcPts val="380"/>
              </a:spcBef>
            </a:pP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Supe</a:t>
            </a:r>
            <a:r>
              <a:rPr sz="1500" spc="3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sed  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61388" y="4344923"/>
            <a:ext cx="1269491" cy="63855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091689" y="4510278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500" spc="-6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ficat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1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61388" y="5241035"/>
            <a:ext cx="1269491" cy="63855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180082" y="5406034"/>
            <a:ext cx="830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Regression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71444" y="3448811"/>
            <a:ext cx="1269492" cy="6385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281298" y="3518154"/>
            <a:ext cx="1047750" cy="447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94945" marR="5080" indent="-182880">
              <a:lnSpc>
                <a:spcPts val="1520"/>
              </a:lnSpc>
              <a:spcBef>
                <a:spcPts val="380"/>
              </a:spcBef>
            </a:pP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5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upe</a:t>
            </a:r>
            <a:r>
              <a:rPr sz="1500" spc="5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sed  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86911" y="4344923"/>
            <a:ext cx="1269491" cy="63855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732403" y="4510278"/>
            <a:ext cx="7778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ust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86911" y="5241035"/>
            <a:ext cx="1269491" cy="63855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547998" y="5309361"/>
            <a:ext cx="1148080" cy="44830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4945" marR="5080" indent="-182880">
              <a:lnSpc>
                <a:spcPts val="1530"/>
              </a:lnSpc>
              <a:spcBef>
                <a:spcPts val="375"/>
              </a:spcBef>
            </a:pPr>
            <a:r>
              <a:rPr sz="1500" spc="6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1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500" spc="1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500" spc="-8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1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500" spc="-85" dirty="0">
                <a:solidFill>
                  <a:srgbClr val="FFFFFF"/>
                </a:solidFill>
                <a:latin typeface="Times New Roman"/>
                <a:cs typeface="Times New Roman"/>
              </a:rPr>
              <a:t>y  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98491" y="3448811"/>
            <a:ext cx="1269491" cy="63855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704079" y="3518154"/>
            <a:ext cx="1257300" cy="447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9085" marR="5080" indent="-287020">
              <a:lnSpc>
                <a:spcPts val="1520"/>
              </a:lnSpc>
              <a:spcBef>
                <a:spcPts val="380"/>
              </a:spcBef>
            </a:pP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Se</a:t>
            </a:r>
            <a:r>
              <a:rPr sz="1500" spc="-8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500" spc="-7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Supe</a:t>
            </a:r>
            <a:r>
              <a:rPr sz="1500" spc="3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sed  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24015" y="3448811"/>
            <a:ext cx="1269491" cy="63855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299453" y="3518154"/>
            <a:ext cx="1120775" cy="447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30504" marR="5080" indent="-218440">
              <a:lnSpc>
                <a:spcPts val="1520"/>
              </a:lnSpc>
              <a:spcBef>
                <a:spcPts val="380"/>
              </a:spcBef>
            </a:pPr>
            <a:r>
              <a:rPr sz="1500" spc="-10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ei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force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500" spc="-5" dirty="0">
                <a:solidFill>
                  <a:srgbClr val="FFFFFF"/>
                </a:solidFill>
                <a:latin typeface="Times New Roman"/>
                <a:cs typeface="Times New Roman"/>
              </a:rPr>
              <a:t>ent  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751064" y="3448811"/>
            <a:ext cx="1269492" cy="638556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799958" y="3518154"/>
            <a:ext cx="1171575" cy="447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6540" marR="5080" indent="-243840">
              <a:lnSpc>
                <a:spcPts val="1520"/>
              </a:lnSpc>
              <a:spcBef>
                <a:spcPts val="380"/>
              </a:spcBef>
            </a:pPr>
            <a:r>
              <a:rPr sz="1500" spc="-80" dirty="0">
                <a:solidFill>
                  <a:srgbClr val="FFFFFF"/>
                </a:solidFill>
                <a:latin typeface="Times New Roman"/>
                <a:cs typeface="Times New Roman"/>
              </a:rPr>
              <a:t>Sel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Supe</a:t>
            </a:r>
            <a:r>
              <a:rPr sz="1500" spc="3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sed  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276588" y="3448811"/>
            <a:ext cx="1269492" cy="638556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9355328" y="3614420"/>
            <a:ext cx="11125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Meta-Learning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</a:t>
            </a:fld>
            <a:endParaRPr spc="-3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Supervised</a:t>
            </a:r>
            <a:r>
              <a:rPr spc="-35" dirty="0"/>
              <a:t> </a:t>
            </a:r>
            <a:r>
              <a:rPr spc="-90" dirty="0"/>
              <a:t>Learning</a:t>
            </a:r>
            <a:r>
              <a:rPr spc="-15" dirty="0"/>
              <a:t> </a:t>
            </a:r>
            <a:r>
              <a:rPr spc="-55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5065776"/>
            <a:ext cx="944880" cy="5791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411" y="5167629"/>
            <a:ext cx="647700" cy="3340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1100"/>
              </a:lnSpc>
              <a:spcBef>
                <a:spcPts val="320"/>
              </a:spcBef>
            </a:pPr>
            <a:r>
              <a:rPr sz="1100" b="1" spc="10" dirty="0">
                <a:latin typeface="Times New Roman"/>
                <a:cs typeface="Times New Roman"/>
              </a:rPr>
              <a:t>Define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th</a:t>
            </a:r>
            <a:r>
              <a:rPr sz="1100" b="1" spc="20" dirty="0">
                <a:latin typeface="Times New Roman"/>
                <a:cs typeface="Times New Roman"/>
              </a:rPr>
              <a:t>e  </a:t>
            </a:r>
            <a:r>
              <a:rPr sz="1100" b="1" spc="-10" dirty="0">
                <a:latin typeface="Times New Roman"/>
                <a:cs typeface="Times New Roman"/>
              </a:rPr>
              <a:t>Problem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636" y="4815840"/>
            <a:ext cx="182880" cy="1828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0096" y="4815840"/>
            <a:ext cx="944879" cy="57759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63954" y="4916551"/>
            <a:ext cx="697230" cy="4756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ct val="84100"/>
              </a:lnSpc>
              <a:spcBef>
                <a:spcPts val="310"/>
              </a:spcBef>
            </a:pPr>
            <a:r>
              <a:rPr sz="1100" b="1" spc="-55" dirty="0">
                <a:latin typeface="Times New Roman"/>
                <a:cs typeface="Times New Roman"/>
              </a:rPr>
              <a:t>C</a:t>
            </a:r>
            <a:r>
              <a:rPr sz="1100" b="1" dirty="0">
                <a:latin typeface="Times New Roman"/>
                <a:cs typeface="Times New Roman"/>
              </a:rPr>
              <a:t>ollect</a:t>
            </a:r>
            <a:r>
              <a:rPr sz="1100" b="1" spc="-10" dirty="0">
                <a:latin typeface="Times New Roman"/>
                <a:cs typeface="Times New Roman"/>
              </a:rPr>
              <a:t> and  </a:t>
            </a:r>
            <a:r>
              <a:rPr sz="1100" b="1" spc="-30" dirty="0">
                <a:latin typeface="Times New Roman"/>
                <a:cs typeface="Times New Roman"/>
              </a:rPr>
              <a:t>Prepare 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spc="-5" dirty="0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3620" y="4564379"/>
            <a:ext cx="184404" cy="1828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5079" y="4564379"/>
            <a:ext cx="946404" cy="57759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79573" y="4666614"/>
            <a:ext cx="756285" cy="4565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4300"/>
              </a:lnSpc>
              <a:spcBef>
                <a:spcPts val="300"/>
              </a:spcBef>
            </a:pPr>
            <a:r>
              <a:rPr sz="1050" b="1" dirty="0">
                <a:latin typeface="Times New Roman"/>
                <a:cs typeface="Times New Roman"/>
              </a:rPr>
              <a:t>Data 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60" dirty="0">
                <a:latin typeface="Times New Roman"/>
                <a:cs typeface="Times New Roman"/>
              </a:rPr>
              <a:t>P</a:t>
            </a:r>
            <a:r>
              <a:rPr sz="1050" b="1" spc="-50" dirty="0">
                <a:latin typeface="Times New Roman"/>
                <a:cs typeface="Times New Roman"/>
              </a:rPr>
              <a:t>r</a:t>
            </a:r>
            <a:r>
              <a:rPr sz="1050" b="1" spc="20" dirty="0">
                <a:latin typeface="Times New Roman"/>
                <a:cs typeface="Times New Roman"/>
              </a:rPr>
              <a:t>e</a:t>
            </a:r>
            <a:r>
              <a:rPr sz="1050" b="1" spc="-5" dirty="0">
                <a:latin typeface="Times New Roman"/>
                <a:cs typeface="Times New Roman"/>
              </a:rPr>
              <a:t>p</a:t>
            </a:r>
            <a:r>
              <a:rPr sz="1050" b="1" spc="-110" dirty="0">
                <a:latin typeface="Times New Roman"/>
                <a:cs typeface="Times New Roman"/>
              </a:rPr>
              <a:t>r</a:t>
            </a:r>
            <a:r>
              <a:rPr sz="1050" b="1" spc="25" dirty="0">
                <a:latin typeface="Times New Roman"/>
                <a:cs typeface="Times New Roman"/>
              </a:rPr>
              <a:t>oc</a:t>
            </a:r>
            <a:r>
              <a:rPr sz="1050" b="1" spc="20" dirty="0">
                <a:latin typeface="Times New Roman"/>
                <a:cs typeface="Times New Roman"/>
              </a:rPr>
              <a:t>e</a:t>
            </a:r>
            <a:r>
              <a:rPr sz="1050" b="1" spc="30" dirty="0">
                <a:latin typeface="Times New Roman"/>
                <a:cs typeface="Times New Roman"/>
              </a:rPr>
              <a:t>ss</a:t>
            </a:r>
            <a:r>
              <a:rPr sz="1050" b="1" spc="5" dirty="0">
                <a:latin typeface="Times New Roman"/>
                <a:cs typeface="Times New Roman"/>
              </a:rPr>
              <a:t>i</a:t>
            </a:r>
            <a:r>
              <a:rPr sz="1050" b="1" spc="-5" dirty="0">
                <a:latin typeface="Times New Roman"/>
                <a:cs typeface="Times New Roman"/>
              </a:rPr>
              <a:t>n  </a:t>
            </a:r>
            <a:r>
              <a:rPr sz="1050" b="1" spc="45" dirty="0">
                <a:latin typeface="Times New Roman"/>
                <a:cs typeface="Times New Roman"/>
              </a:rPr>
              <a:t>g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0128" y="4312920"/>
            <a:ext cx="182879" cy="18288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61588" y="4312920"/>
            <a:ext cx="944880" cy="57911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695191" y="4415154"/>
            <a:ext cx="735965" cy="3206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05"/>
              </a:spcBef>
            </a:pPr>
            <a:r>
              <a:rPr sz="1050" b="1" spc="-15" dirty="0">
                <a:latin typeface="Times New Roman"/>
                <a:cs typeface="Times New Roman"/>
              </a:rPr>
              <a:t>Feature 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spc="40" dirty="0">
                <a:latin typeface="Times New Roman"/>
                <a:cs typeface="Times New Roman"/>
              </a:rPr>
              <a:t>E</a:t>
            </a:r>
            <a:r>
              <a:rPr sz="1050" b="1" spc="-5" dirty="0">
                <a:latin typeface="Times New Roman"/>
                <a:cs typeface="Times New Roman"/>
              </a:rPr>
              <a:t>n</a:t>
            </a:r>
            <a:r>
              <a:rPr sz="1050" b="1" spc="45" dirty="0">
                <a:latin typeface="Times New Roman"/>
                <a:cs typeface="Times New Roman"/>
              </a:rPr>
              <a:t>g</a:t>
            </a:r>
            <a:r>
              <a:rPr sz="1050" b="1" spc="5" dirty="0">
                <a:latin typeface="Times New Roman"/>
                <a:cs typeface="Times New Roman"/>
              </a:rPr>
              <a:t>i</a:t>
            </a:r>
            <a:r>
              <a:rPr sz="1050" b="1" spc="-5" dirty="0">
                <a:latin typeface="Times New Roman"/>
                <a:cs typeface="Times New Roman"/>
              </a:rPr>
              <a:t>n</a:t>
            </a:r>
            <a:r>
              <a:rPr sz="1050" b="1" spc="20" dirty="0">
                <a:latin typeface="Times New Roman"/>
                <a:cs typeface="Times New Roman"/>
              </a:rPr>
              <a:t>ee</a:t>
            </a:r>
            <a:r>
              <a:rPr sz="1050" b="1" spc="-110" dirty="0">
                <a:latin typeface="Times New Roman"/>
                <a:cs typeface="Times New Roman"/>
              </a:rPr>
              <a:t>r</a:t>
            </a:r>
            <a:r>
              <a:rPr sz="1050" b="1" spc="5" dirty="0">
                <a:latin typeface="Times New Roman"/>
                <a:cs typeface="Times New Roman"/>
              </a:rPr>
              <a:t>i</a:t>
            </a:r>
            <a:r>
              <a:rPr sz="1050" b="1" spc="-5" dirty="0">
                <a:latin typeface="Times New Roman"/>
                <a:cs typeface="Times New Roman"/>
              </a:rPr>
              <a:t>n</a:t>
            </a:r>
            <a:r>
              <a:rPr sz="1050" b="1" spc="45" dirty="0">
                <a:latin typeface="Times New Roman"/>
                <a:cs typeface="Times New Roman"/>
              </a:rPr>
              <a:t>g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25111" y="4061459"/>
            <a:ext cx="182879" cy="18288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6571" y="4061459"/>
            <a:ext cx="944879" cy="57911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710810" y="4163948"/>
            <a:ext cx="455295" cy="3206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05"/>
              </a:spcBef>
            </a:pPr>
            <a:r>
              <a:rPr sz="1050" b="1" spc="-10" dirty="0">
                <a:latin typeface="Times New Roman"/>
                <a:cs typeface="Times New Roman"/>
              </a:rPr>
              <a:t>Sele</a:t>
            </a:r>
            <a:r>
              <a:rPr sz="1050" b="1" spc="20" dirty="0">
                <a:latin typeface="Times New Roman"/>
                <a:cs typeface="Times New Roman"/>
              </a:rPr>
              <a:t>c</a:t>
            </a:r>
            <a:r>
              <a:rPr sz="1050" b="1" spc="-20" dirty="0">
                <a:latin typeface="Times New Roman"/>
                <a:cs typeface="Times New Roman"/>
              </a:rPr>
              <a:t>t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spc="-15" dirty="0">
                <a:latin typeface="Times New Roman"/>
                <a:cs typeface="Times New Roman"/>
              </a:rPr>
              <a:t>a  </a:t>
            </a:r>
            <a:r>
              <a:rPr sz="1050" b="1" dirty="0">
                <a:latin typeface="Times New Roman"/>
                <a:cs typeface="Times New Roman"/>
              </a:rPr>
              <a:t>Model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40096" y="3810000"/>
            <a:ext cx="184403" cy="18288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91555" y="3810000"/>
            <a:ext cx="946403" cy="57911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726684" y="3912489"/>
            <a:ext cx="715010" cy="4565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4300"/>
              </a:lnSpc>
              <a:spcBef>
                <a:spcPts val="300"/>
              </a:spcBef>
            </a:pPr>
            <a:r>
              <a:rPr sz="1050" b="1" spc="-20" dirty="0">
                <a:latin typeface="Times New Roman"/>
                <a:cs typeface="Times New Roman"/>
              </a:rPr>
              <a:t>Split </a:t>
            </a:r>
            <a:r>
              <a:rPr sz="1050" b="1" dirty="0">
                <a:latin typeface="Times New Roman"/>
                <a:cs typeface="Times New Roman"/>
              </a:rPr>
              <a:t>Data 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35" dirty="0">
                <a:latin typeface="Times New Roman"/>
                <a:cs typeface="Times New Roman"/>
              </a:rPr>
              <a:t>f</a:t>
            </a:r>
            <a:r>
              <a:rPr sz="1050" b="1" spc="-40" dirty="0">
                <a:latin typeface="Times New Roman"/>
                <a:cs typeface="Times New Roman"/>
              </a:rPr>
              <a:t>or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spc="25" dirty="0">
                <a:latin typeface="Times New Roman"/>
                <a:cs typeface="Times New Roman"/>
              </a:rPr>
              <a:t>T</a:t>
            </a:r>
            <a:r>
              <a:rPr sz="1050" b="1" spc="-110" dirty="0">
                <a:latin typeface="Times New Roman"/>
                <a:cs typeface="Times New Roman"/>
              </a:rPr>
              <a:t>r</a:t>
            </a:r>
            <a:r>
              <a:rPr sz="1050" b="1" spc="-5" dirty="0">
                <a:latin typeface="Times New Roman"/>
                <a:cs typeface="Times New Roman"/>
              </a:rPr>
              <a:t>ain</a:t>
            </a:r>
            <a:r>
              <a:rPr sz="1050" b="1" spc="5" dirty="0">
                <a:latin typeface="Times New Roman"/>
                <a:cs typeface="Times New Roman"/>
              </a:rPr>
              <a:t>i</a:t>
            </a:r>
            <a:r>
              <a:rPr sz="1050" b="1" spc="-5" dirty="0">
                <a:latin typeface="Times New Roman"/>
                <a:cs typeface="Times New Roman"/>
              </a:rPr>
              <a:t>n</a:t>
            </a:r>
            <a:r>
              <a:rPr sz="1050" b="1" spc="30" dirty="0">
                <a:latin typeface="Times New Roman"/>
                <a:cs typeface="Times New Roman"/>
              </a:rPr>
              <a:t>g  </a:t>
            </a:r>
            <a:r>
              <a:rPr sz="1050" b="1" spc="-10" dirty="0">
                <a:latin typeface="Times New Roman"/>
                <a:cs typeface="Times New Roman"/>
              </a:rPr>
              <a:t>an</a:t>
            </a:r>
            <a:r>
              <a:rPr sz="1050" b="1" spc="-5" dirty="0">
                <a:latin typeface="Times New Roman"/>
                <a:cs typeface="Times New Roman"/>
              </a:rPr>
              <a:t>d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25" dirty="0">
                <a:latin typeface="Times New Roman"/>
                <a:cs typeface="Times New Roman"/>
              </a:rPr>
              <a:t>T</a:t>
            </a:r>
            <a:r>
              <a:rPr sz="1050" b="1" spc="20" dirty="0">
                <a:latin typeface="Times New Roman"/>
                <a:cs typeface="Times New Roman"/>
              </a:rPr>
              <a:t>e</a:t>
            </a:r>
            <a:r>
              <a:rPr sz="1050" b="1" spc="30" dirty="0">
                <a:latin typeface="Times New Roman"/>
                <a:cs typeface="Times New Roman"/>
              </a:rPr>
              <a:t>s</a:t>
            </a:r>
            <a:r>
              <a:rPr sz="1050" b="1" spc="-20" dirty="0">
                <a:latin typeface="Times New Roman"/>
                <a:cs typeface="Times New Roman"/>
              </a:rPr>
              <a:t>t</a:t>
            </a:r>
            <a:r>
              <a:rPr sz="1050" b="1" spc="5" dirty="0">
                <a:latin typeface="Times New Roman"/>
                <a:cs typeface="Times New Roman"/>
              </a:rPr>
              <a:t>i</a:t>
            </a:r>
            <a:r>
              <a:rPr sz="1050" b="1" spc="-5" dirty="0">
                <a:latin typeface="Times New Roman"/>
                <a:cs typeface="Times New Roman"/>
              </a:rPr>
              <a:t>n</a:t>
            </a:r>
            <a:r>
              <a:rPr sz="1050" b="1" spc="45" dirty="0">
                <a:latin typeface="Times New Roman"/>
                <a:cs typeface="Times New Roman"/>
              </a:rPr>
              <a:t>g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56603" y="3558540"/>
            <a:ext cx="182879" cy="18440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608064" y="3558540"/>
            <a:ext cx="944879" cy="57912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742303" y="3660724"/>
            <a:ext cx="551815" cy="32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05"/>
              </a:spcBef>
            </a:pPr>
            <a:r>
              <a:rPr sz="1050" b="1" spc="25" dirty="0">
                <a:latin typeface="Times New Roman"/>
                <a:cs typeface="Times New Roman"/>
              </a:rPr>
              <a:t>T</a:t>
            </a:r>
            <a:r>
              <a:rPr sz="1050" b="1" spc="-110" dirty="0">
                <a:latin typeface="Times New Roman"/>
                <a:cs typeface="Times New Roman"/>
              </a:rPr>
              <a:t>r</a:t>
            </a:r>
            <a:r>
              <a:rPr sz="1050" b="1" spc="-5" dirty="0">
                <a:latin typeface="Times New Roman"/>
                <a:cs typeface="Times New Roman"/>
              </a:rPr>
              <a:t>ain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20" dirty="0">
                <a:latin typeface="Times New Roman"/>
                <a:cs typeface="Times New Roman"/>
              </a:rPr>
              <a:t>t</a:t>
            </a:r>
            <a:r>
              <a:rPr sz="1050" b="1" dirty="0">
                <a:latin typeface="Times New Roman"/>
                <a:cs typeface="Times New Roman"/>
              </a:rPr>
              <a:t>h</a:t>
            </a:r>
            <a:r>
              <a:rPr sz="1050" b="1" spc="30" dirty="0">
                <a:latin typeface="Times New Roman"/>
                <a:cs typeface="Times New Roman"/>
              </a:rPr>
              <a:t>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60"/>
              </a:lnSpc>
            </a:pPr>
            <a:r>
              <a:rPr sz="1050" b="1" dirty="0">
                <a:latin typeface="Times New Roman"/>
                <a:cs typeface="Times New Roman"/>
              </a:rPr>
              <a:t>Model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71588" y="3307079"/>
            <a:ext cx="182879" cy="18440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623047" y="3307079"/>
            <a:ext cx="946403" cy="57912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757921" y="3409950"/>
            <a:ext cx="748665" cy="5905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ct val="84100"/>
              </a:lnSpc>
              <a:spcBef>
                <a:spcPts val="305"/>
              </a:spcBef>
            </a:pPr>
            <a:r>
              <a:rPr sz="1050" b="1" spc="-55" dirty="0">
                <a:latin typeface="Times New Roman"/>
                <a:cs typeface="Times New Roman"/>
              </a:rPr>
              <a:t>V</a:t>
            </a:r>
            <a:r>
              <a:rPr sz="1050" b="1" spc="-10" dirty="0">
                <a:latin typeface="Times New Roman"/>
                <a:cs typeface="Times New Roman"/>
              </a:rPr>
              <a:t>alid</a:t>
            </a:r>
            <a:r>
              <a:rPr sz="1050" b="1" spc="-20" dirty="0">
                <a:latin typeface="Times New Roman"/>
                <a:cs typeface="Times New Roman"/>
              </a:rPr>
              <a:t>at</a:t>
            </a:r>
            <a:r>
              <a:rPr sz="1050" b="1" spc="25" dirty="0">
                <a:latin typeface="Times New Roman"/>
                <a:cs typeface="Times New Roman"/>
              </a:rPr>
              <a:t>e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an</a:t>
            </a:r>
            <a:r>
              <a:rPr sz="1050" b="1" spc="-5" dirty="0">
                <a:latin typeface="Times New Roman"/>
                <a:cs typeface="Times New Roman"/>
              </a:rPr>
              <a:t>d  </a:t>
            </a:r>
            <a:r>
              <a:rPr sz="1050" b="1" spc="10" dirty="0">
                <a:latin typeface="Times New Roman"/>
                <a:cs typeface="Times New Roman"/>
              </a:rPr>
              <a:t>Tune </a:t>
            </a:r>
            <a:r>
              <a:rPr sz="1050" b="1" spc="15" dirty="0">
                <a:latin typeface="Times New Roman"/>
                <a:cs typeface="Times New Roman"/>
              </a:rPr>
              <a:t> </a:t>
            </a:r>
            <a:r>
              <a:rPr sz="1050" b="1" spc="40" dirty="0">
                <a:latin typeface="Times New Roman"/>
                <a:cs typeface="Times New Roman"/>
              </a:rPr>
              <a:t>H</a:t>
            </a:r>
            <a:r>
              <a:rPr sz="1050" b="1" spc="20" dirty="0">
                <a:latin typeface="Times New Roman"/>
                <a:cs typeface="Times New Roman"/>
              </a:rPr>
              <a:t>y</a:t>
            </a:r>
            <a:r>
              <a:rPr sz="1050" b="1" spc="-5" dirty="0">
                <a:latin typeface="Times New Roman"/>
                <a:cs typeface="Times New Roman"/>
              </a:rPr>
              <a:t>p</a:t>
            </a:r>
            <a:r>
              <a:rPr sz="1050" b="1" spc="20" dirty="0">
                <a:latin typeface="Times New Roman"/>
                <a:cs typeface="Times New Roman"/>
              </a:rPr>
              <a:t>e</a:t>
            </a:r>
            <a:r>
              <a:rPr sz="1050" b="1" spc="-110" dirty="0">
                <a:latin typeface="Times New Roman"/>
                <a:cs typeface="Times New Roman"/>
              </a:rPr>
              <a:t>r</a:t>
            </a:r>
            <a:r>
              <a:rPr sz="1050" b="1" spc="-5" dirty="0">
                <a:latin typeface="Times New Roman"/>
                <a:cs typeface="Times New Roman"/>
              </a:rPr>
              <a:t>p</a:t>
            </a:r>
            <a:r>
              <a:rPr sz="1050" b="1" spc="-65" dirty="0">
                <a:latin typeface="Times New Roman"/>
                <a:cs typeface="Times New Roman"/>
              </a:rPr>
              <a:t>a</a:t>
            </a:r>
            <a:r>
              <a:rPr sz="1050" b="1" spc="-70" dirty="0">
                <a:latin typeface="Times New Roman"/>
                <a:cs typeface="Times New Roman"/>
              </a:rPr>
              <a:t>r</a:t>
            </a:r>
            <a:r>
              <a:rPr sz="1050" b="1" spc="-5" dirty="0">
                <a:latin typeface="Times New Roman"/>
                <a:cs typeface="Times New Roman"/>
              </a:rPr>
              <a:t>am  </a:t>
            </a:r>
            <a:r>
              <a:rPr sz="1050" b="1" spc="-10" dirty="0">
                <a:latin typeface="Times New Roman"/>
                <a:cs typeface="Times New Roman"/>
              </a:rPr>
              <a:t>eters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88095" y="3057144"/>
            <a:ext cx="182879" cy="18287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638031" y="3055620"/>
            <a:ext cx="946403" cy="57912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777478" y="3157854"/>
            <a:ext cx="699770" cy="5162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210"/>
              </a:lnSpc>
              <a:spcBef>
                <a:spcPts val="330"/>
              </a:spcBef>
            </a:pPr>
            <a:r>
              <a:rPr sz="1200" b="1" spc="-15" dirty="0">
                <a:latin typeface="Times New Roman"/>
                <a:cs typeface="Times New Roman"/>
              </a:rPr>
              <a:t>Evaluate 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10" dirty="0">
                <a:latin typeface="Times New Roman"/>
                <a:cs typeface="Times New Roman"/>
              </a:rPr>
              <a:t>on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test </a:t>
            </a:r>
            <a:r>
              <a:rPr sz="1200" b="1" spc="-285" dirty="0">
                <a:latin typeface="Times New Roman"/>
                <a:cs typeface="Times New Roman"/>
              </a:rPr>
              <a:t> </a:t>
            </a:r>
            <a:r>
              <a:rPr sz="1200" b="1" spc="10" dirty="0">
                <a:latin typeface="Times New Roman"/>
                <a:cs typeface="Times New Roman"/>
              </a:rPr>
              <a:t>set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403080" y="2805683"/>
            <a:ext cx="182879" cy="18287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654540" y="2804160"/>
            <a:ext cx="944879" cy="57912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792969" y="2906395"/>
            <a:ext cx="728980" cy="3625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210"/>
              </a:lnSpc>
              <a:spcBef>
                <a:spcPts val="330"/>
              </a:spcBef>
            </a:pPr>
            <a:r>
              <a:rPr sz="1200" b="1" spc="5" dirty="0">
                <a:latin typeface="Times New Roman"/>
                <a:cs typeface="Times New Roman"/>
              </a:rPr>
              <a:t>I</a:t>
            </a:r>
            <a:r>
              <a:rPr sz="1200" b="1" spc="-40" dirty="0">
                <a:latin typeface="Times New Roman"/>
                <a:cs typeface="Times New Roman"/>
              </a:rPr>
              <a:t>te</a:t>
            </a:r>
            <a:r>
              <a:rPr sz="1200" b="1" spc="-55" dirty="0">
                <a:latin typeface="Times New Roman"/>
                <a:cs typeface="Times New Roman"/>
              </a:rPr>
              <a:t>r</a:t>
            </a:r>
            <a:r>
              <a:rPr sz="1200" b="1" spc="-10" dirty="0">
                <a:latin typeface="Times New Roman"/>
                <a:cs typeface="Times New Roman"/>
              </a:rPr>
              <a:t>ate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and  </a:t>
            </a:r>
            <a:r>
              <a:rPr sz="1200" b="1" spc="-25" dirty="0">
                <a:latin typeface="Times New Roman"/>
                <a:cs typeface="Times New Roman"/>
              </a:rPr>
              <a:t>Improve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418064" y="2554223"/>
            <a:ext cx="182879" cy="18287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669523" y="2554223"/>
            <a:ext cx="946403" cy="577596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0820145" y="2657347"/>
            <a:ext cx="608330" cy="6400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ct val="84300"/>
              </a:lnSpc>
              <a:spcBef>
                <a:spcPts val="380"/>
              </a:spcBef>
            </a:pPr>
            <a:r>
              <a:rPr sz="1500" b="1" spc="70" dirty="0">
                <a:latin typeface="Times New Roman"/>
                <a:cs typeface="Times New Roman"/>
              </a:rPr>
              <a:t>D</a:t>
            </a:r>
            <a:r>
              <a:rPr sz="1500" b="1" spc="50" dirty="0">
                <a:latin typeface="Times New Roman"/>
                <a:cs typeface="Times New Roman"/>
              </a:rPr>
              <a:t>e</a:t>
            </a:r>
            <a:r>
              <a:rPr sz="1500" b="1" spc="-30" dirty="0">
                <a:latin typeface="Times New Roman"/>
                <a:cs typeface="Times New Roman"/>
              </a:rPr>
              <a:t>p</a:t>
            </a:r>
            <a:r>
              <a:rPr sz="1500" b="1" spc="-15" dirty="0">
                <a:latin typeface="Times New Roman"/>
                <a:cs typeface="Times New Roman"/>
              </a:rPr>
              <a:t>l</a:t>
            </a:r>
            <a:r>
              <a:rPr sz="1500" b="1" spc="-10" dirty="0">
                <a:latin typeface="Times New Roman"/>
                <a:cs typeface="Times New Roman"/>
              </a:rPr>
              <a:t>oy  </a:t>
            </a:r>
            <a:r>
              <a:rPr sz="1500" b="1" dirty="0">
                <a:latin typeface="Times New Roman"/>
                <a:cs typeface="Times New Roman"/>
              </a:rPr>
              <a:t>the 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Model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4</a:t>
            </a:fld>
            <a:endParaRPr spc="-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105" y="1240358"/>
            <a:ext cx="44062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Feature</a:t>
            </a:r>
            <a:r>
              <a:rPr spc="-75" dirty="0"/>
              <a:t> 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5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32634"/>
            <a:ext cx="8666480" cy="31711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44450" indent="-287020">
              <a:lnSpc>
                <a:spcPts val="2590"/>
              </a:lnSpc>
              <a:spcBef>
                <a:spcPts val="425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1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attribute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3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used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machine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learning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90100"/>
              </a:lnSpc>
              <a:spcBef>
                <a:spcPts val="114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engineering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refers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process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of</a:t>
            </a:r>
            <a:r>
              <a:rPr sz="2400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translating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into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such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these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able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represent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more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80" dirty="0">
                <a:solidFill>
                  <a:srgbClr val="252525"/>
                </a:solidFill>
                <a:latin typeface="Times New Roman"/>
                <a:cs typeface="Times New Roman"/>
              </a:rPr>
              <a:t>effectively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result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better</a:t>
            </a:r>
            <a:r>
              <a:rPr sz="24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learning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performance.</a:t>
            </a:r>
            <a:endParaRPr sz="2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885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4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has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major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elements: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869"/>
              </a:spcBef>
              <a:buClr>
                <a:srgbClr val="AB936B"/>
              </a:buClr>
              <a:buSzPct val="11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35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0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imes New Roman"/>
                <a:cs typeface="Times New Roman"/>
              </a:rPr>
              <a:t>Transformation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840"/>
              </a:spcBef>
              <a:buClr>
                <a:srgbClr val="AB936B"/>
              </a:buClr>
              <a:buSzPct val="11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35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0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252525"/>
                </a:solidFill>
                <a:latin typeface="Times New Roman"/>
                <a:cs typeface="Times New Roman"/>
              </a:rPr>
              <a:t>Subset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252525"/>
                </a:solidFill>
                <a:latin typeface="Times New Roman"/>
                <a:cs typeface="Times New Roman"/>
              </a:rPr>
              <a:t>Selection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961" y="1240358"/>
            <a:ext cx="5184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Feature</a:t>
            </a:r>
            <a:r>
              <a:rPr spc="-70" dirty="0"/>
              <a:t> </a:t>
            </a:r>
            <a:r>
              <a:rPr spc="-40" dirty="0"/>
              <a:t>Transformation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6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66161"/>
            <a:ext cx="8676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Transforms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into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new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represent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underlying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problem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machine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learning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trying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solve.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9573" y="1240358"/>
            <a:ext cx="5297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Feature</a:t>
            </a:r>
            <a:r>
              <a:rPr spc="-35" dirty="0"/>
              <a:t> </a:t>
            </a:r>
            <a:r>
              <a:rPr spc="-85" dirty="0"/>
              <a:t>Subset</a:t>
            </a:r>
            <a:r>
              <a:rPr spc="-30" dirty="0"/>
              <a:t> </a:t>
            </a:r>
            <a:r>
              <a:rPr spc="-110" dirty="0"/>
              <a:t>Selection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7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66161"/>
            <a:ext cx="94049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objective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selection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derive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subset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5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features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from the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full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meaningful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context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specific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machine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learning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problem.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1785" y="1240358"/>
            <a:ext cx="4947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Polynomial</a:t>
            </a:r>
            <a:r>
              <a:rPr spc="-35" dirty="0"/>
              <a:t> </a:t>
            </a:r>
            <a:r>
              <a:rPr spc="-105" dirty="0"/>
              <a:t>Regression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8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48994" y="2566161"/>
            <a:ext cx="9123680" cy="200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marR="224154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2400" spc="4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80" dirty="0">
                <a:solidFill>
                  <a:srgbClr val="252525"/>
                </a:solidFill>
                <a:latin typeface="Times New Roman"/>
                <a:cs typeface="Times New Roman"/>
              </a:rPr>
              <a:t>iss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extension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simple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linear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model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1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adding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extra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predictors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obtained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1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raising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(squaring)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each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original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predictors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power.</a:t>
            </a:r>
            <a:endParaRPr sz="2400">
              <a:latin typeface="Times New Roman"/>
              <a:cs typeface="Times New Roman"/>
            </a:endParaRPr>
          </a:p>
          <a:p>
            <a:pPr marL="324485" marR="30480" indent="-287020">
              <a:lnSpc>
                <a:spcPct val="100000"/>
              </a:lnSpc>
              <a:spcBef>
                <a:spcPts val="1175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example,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2400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three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85" dirty="0">
                <a:solidFill>
                  <a:srgbClr val="252525"/>
                </a:solidFill>
                <a:latin typeface="Times New Roman"/>
                <a:cs typeface="Times New Roman"/>
              </a:rPr>
              <a:t>variables,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X,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2400" spc="-82" baseline="24305" dirty="0">
                <a:solidFill>
                  <a:srgbClr val="252525"/>
                </a:solidFill>
                <a:latin typeface="Times New Roman"/>
                <a:cs typeface="Times New Roman"/>
              </a:rPr>
              <a:t>2</a:t>
            </a:r>
            <a:r>
              <a:rPr sz="2400" spc="300" baseline="243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2400" spc="-82" baseline="24305" dirty="0">
                <a:solidFill>
                  <a:srgbClr val="252525"/>
                </a:solidFill>
                <a:latin typeface="Times New Roman"/>
                <a:cs typeface="Times New Roman"/>
              </a:rPr>
              <a:t>3</a:t>
            </a:r>
            <a:r>
              <a:rPr sz="2400" spc="300" baseline="243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used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80" dirty="0">
                <a:solidFill>
                  <a:srgbClr val="252525"/>
                </a:solidFill>
                <a:latin typeface="Times New Roman"/>
                <a:cs typeface="Times New Roman"/>
              </a:rPr>
              <a:t>as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predictors.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approach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provides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simple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70" dirty="0">
                <a:solidFill>
                  <a:srgbClr val="252525"/>
                </a:solidFill>
                <a:latin typeface="Times New Roman"/>
                <a:cs typeface="Times New Roman"/>
              </a:rPr>
              <a:t>way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5" dirty="0">
                <a:solidFill>
                  <a:srgbClr val="252525"/>
                </a:solidFill>
                <a:latin typeface="Times New Roman"/>
                <a:cs typeface="Times New Roman"/>
              </a:rPr>
              <a:t>yield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non-linear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fit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/>
              <a:t>kNN</a:t>
            </a:r>
            <a:r>
              <a:rPr spc="-45" dirty="0"/>
              <a:t> </a:t>
            </a:r>
            <a:r>
              <a:rPr spc="385" dirty="0">
                <a:latin typeface="Microsoft Sans Serif"/>
                <a:cs typeface="Microsoft Sans Serif"/>
              </a:rPr>
              <a:t>–</a:t>
            </a:r>
            <a:r>
              <a:rPr spc="385" dirty="0"/>
              <a:t>k</a:t>
            </a:r>
            <a:r>
              <a:rPr spc="-15" dirty="0"/>
              <a:t> </a:t>
            </a:r>
            <a:r>
              <a:rPr spc="-35" dirty="0"/>
              <a:t>Nearest</a:t>
            </a:r>
            <a:r>
              <a:rPr spc="-55" dirty="0"/>
              <a:t> </a:t>
            </a:r>
            <a:r>
              <a:rPr spc="-40" dirty="0"/>
              <a:t>Neighbours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2496311"/>
            <a:ext cx="5486400" cy="37520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9</a:t>
            </a:fld>
            <a:endParaRPr spc="-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1255" y="2295144"/>
            <a:ext cx="5809488" cy="39532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/>
              <a:t>kNN</a:t>
            </a:r>
            <a:r>
              <a:rPr spc="-45" dirty="0"/>
              <a:t> </a:t>
            </a:r>
            <a:r>
              <a:rPr spc="385" dirty="0">
                <a:latin typeface="Microsoft Sans Serif"/>
                <a:cs typeface="Microsoft Sans Serif"/>
              </a:rPr>
              <a:t>–</a:t>
            </a:r>
            <a:r>
              <a:rPr spc="385" dirty="0"/>
              <a:t>k</a:t>
            </a:r>
            <a:r>
              <a:rPr spc="-15" dirty="0"/>
              <a:t> </a:t>
            </a:r>
            <a:r>
              <a:rPr spc="-35" dirty="0"/>
              <a:t>Nearest</a:t>
            </a:r>
            <a:r>
              <a:rPr spc="-55" dirty="0"/>
              <a:t> </a:t>
            </a:r>
            <a:r>
              <a:rPr spc="-40" dirty="0"/>
              <a:t>Neighbours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10</a:t>
            </a:fld>
            <a:endParaRPr spc="-3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3072" y="2382011"/>
            <a:ext cx="5524500" cy="38663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/>
              <a:t>kNN</a:t>
            </a:r>
            <a:r>
              <a:rPr spc="-45" dirty="0"/>
              <a:t> </a:t>
            </a:r>
            <a:r>
              <a:rPr spc="385" dirty="0">
                <a:latin typeface="Microsoft Sans Serif"/>
                <a:cs typeface="Microsoft Sans Serif"/>
              </a:rPr>
              <a:t>–</a:t>
            </a:r>
            <a:r>
              <a:rPr spc="385" dirty="0"/>
              <a:t>k</a:t>
            </a:r>
            <a:r>
              <a:rPr spc="-15" dirty="0"/>
              <a:t> </a:t>
            </a:r>
            <a:r>
              <a:rPr spc="-35" dirty="0"/>
              <a:t>Nearest</a:t>
            </a:r>
            <a:r>
              <a:rPr spc="-55" dirty="0"/>
              <a:t> </a:t>
            </a:r>
            <a:r>
              <a:rPr spc="-40" dirty="0"/>
              <a:t>Neighbours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11</a:t>
            </a:fld>
            <a:endParaRPr spc="-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6100" y="2458212"/>
            <a:ext cx="5591556" cy="37901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/>
              <a:t>kNN</a:t>
            </a:r>
            <a:r>
              <a:rPr spc="-45" dirty="0"/>
              <a:t> </a:t>
            </a:r>
            <a:r>
              <a:rPr spc="385" dirty="0">
                <a:latin typeface="Microsoft Sans Serif"/>
                <a:cs typeface="Microsoft Sans Serif"/>
              </a:rPr>
              <a:t>–</a:t>
            </a:r>
            <a:r>
              <a:rPr spc="385" dirty="0"/>
              <a:t>k</a:t>
            </a:r>
            <a:r>
              <a:rPr spc="-15" dirty="0"/>
              <a:t> </a:t>
            </a:r>
            <a:r>
              <a:rPr spc="-35" dirty="0"/>
              <a:t>Nearest</a:t>
            </a:r>
            <a:r>
              <a:rPr spc="-55" dirty="0"/>
              <a:t> </a:t>
            </a:r>
            <a:r>
              <a:rPr spc="-40" dirty="0"/>
              <a:t>Neighbours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12</a:t>
            </a:fld>
            <a:endParaRPr spc="-3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/>
              <a:t>kNN</a:t>
            </a:r>
            <a:r>
              <a:rPr spc="-45" dirty="0"/>
              <a:t> </a:t>
            </a:r>
            <a:r>
              <a:rPr spc="385" dirty="0">
                <a:latin typeface="Microsoft Sans Serif"/>
                <a:cs typeface="Microsoft Sans Serif"/>
              </a:rPr>
              <a:t>–</a:t>
            </a:r>
            <a:r>
              <a:rPr spc="385" dirty="0"/>
              <a:t>k</a:t>
            </a:r>
            <a:r>
              <a:rPr spc="-15" dirty="0"/>
              <a:t> </a:t>
            </a:r>
            <a:r>
              <a:rPr spc="-35" dirty="0"/>
              <a:t>Nearest</a:t>
            </a:r>
            <a:r>
              <a:rPr spc="-55" dirty="0"/>
              <a:t> </a:t>
            </a:r>
            <a:r>
              <a:rPr spc="-40" dirty="0"/>
              <a:t>Neighbours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7328" y="2708148"/>
            <a:ext cx="4657344" cy="28392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13</a:t>
            </a:fld>
            <a:endParaRPr spc="-3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8234" y="1240358"/>
            <a:ext cx="3877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Confusion</a:t>
            </a:r>
            <a:r>
              <a:rPr spc="-35" dirty="0"/>
              <a:t> </a:t>
            </a:r>
            <a:r>
              <a:rPr spc="-130" dirty="0"/>
              <a:t>Matrix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14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66161"/>
            <a:ext cx="8527415" cy="2536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four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possibilities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regards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cricket</a:t>
            </a:r>
            <a:r>
              <a:rPr sz="24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match</a:t>
            </a:r>
            <a:r>
              <a:rPr sz="24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win/loss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prediction: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105"/>
              </a:spcBef>
              <a:buClr>
                <a:srgbClr val="AB936B"/>
              </a:buClr>
              <a:buSzPct val="11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65" dirty="0">
                <a:solidFill>
                  <a:srgbClr val="252525"/>
                </a:solidFill>
                <a:latin typeface="Times New Roman"/>
                <a:cs typeface="Times New Roman"/>
              </a:rPr>
              <a:t>1.</a:t>
            </a:r>
            <a:r>
              <a:rPr sz="20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model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predicted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65" dirty="0">
                <a:solidFill>
                  <a:srgbClr val="252525"/>
                </a:solidFill>
                <a:latin typeface="Times New Roman"/>
                <a:cs typeface="Times New Roman"/>
              </a:rPr>
              <a:t>win</a:t>
            </a:r>
            <a:r>
              <a:rPr sz="20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team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252525"/>
                </a:solidFill>
                <a:latin typeface="Times New Roman"/>
                <a:cs typeface="Times New Roman"/>
              </a:rPr>
              <a:t>won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252525"/>
                </a:solidFill>
                <a:latin typeface="Times New Roman"/>
                <a:cs typeface="Times New Roman"/>
              </a:rPr>
              <a:t>(TP)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085"/>
              </a:spcBef>
              <a:buClr>
                <a:srgbClr val="AB936B"/>
              </a:buClr>
              <a:buSzPct val="11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65" dirty="0">
                <a:solidFill>
                  <a:srgbClr val="252525"/>
                </a:solidFill>
                <a:latin typeface="Times New Roman"/>
                <a:cs typeface="Times New Roman"/>
              </a:rPr>
              <a:t>2.</a:t>
            </a:r>
            <a:r>
              <a:rPr sz="20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model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predicted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65" dirty="0">
                <a:solidFill>
                  <a:srgbClr val="252525"/>
                </a:solidFill>
                <a:latin typeface="Times New Roman"/>
                <a:cs typeface="Times New Roman"/>
              </a:rPr>
              <a:t>win</a:t>
            </a:r>
            <a:r>
              <a:rPr sz="20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team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lost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252525"/>
                </a:solidFill>
                <a:latin typeface="Times New Roman"/>
                <a:cs typeface="Times New Roman"/>
              </a:rPr>
              <a:t>(FP)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080"/>
              </a:spcBef>
              <a:buClr>
                <a:srgbClr val="AB936B"/>
              </a:buClr>
              <a:buSzPct val="11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65" dirty="0">
                <a:solidFill>
                  <a:srgbClr val="252525"/>
                </a:solidFill>
                <a:latin typeface="Times New Roman"/>
                <a:cs typeface="Times New Roman"/>
              </a:rPr>
              <a:t>3.</a:t>
            </a:r>
            <a:r>
              <a:rPr sz="20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model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predicted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252525"/>
                </a:solidFill>
                <a:latin typeface="Times New Roman"/>
                <a:cs typeface="Times New Roman"/>
              </a:rPr>
              <a:t>loss</a:t>
            </a:r>
            <a:r>
              <a:rPr sz="20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team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252525"/>
                </a:solidFill>
                <a:latin typeface="Times New Roman"/>
                <a:cs typeface="Times New Roman"/>
              </a:rPr>
              <a:t>won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(FN)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080"/>
              </a:spcBef>
              <a:buClr>
                <a:srgbClr val="AB936B"/>
              </a:buClr>
              <a:buSzPct val="11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65" dirty="0">
                <a:solidFill>
                  <a:srgbClr val="252525"/>
                </a:solidFill>
                <a:latin typeface="Times New Roman"/>
                <a:cs typeface="Times New Roman"/>
              </a:rPr>
              <a:t>4.</a:t>
            </a:r>
            <a:r>
              <a:rPr sz="20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model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predicted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252525"/>
                </a:solidFill>
                <a:latin typeface="Times New Roman"/>
                <a:cs typeface="Times New Roman"/>
              </a:rPr>
              <a:t>loss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team</a:t>
            </a:r>
            <a:r>
              <a:rPr sz="20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lost</a:t>
            </a:r>
            <a:r>
              <a:rPr sz="20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(TN)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8253" y="1240358"/>
            <a:ext cx="35540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Model</a:t>
            </a:r>
            <a:r>
              <a:rPr spc="-80" dirty="0"/>
              <a:t> </a:t>
            </a:r>
            <a:r>
              <a:rPr spc="-145" dirty="0"/>
              <a:t>Accuracy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61944" y="2540507"/>
            <a:ext cx="5316220" cy="3708400"/>
            <a:chOff x="3361944" y="2540507"/>
            <a:chExt cx="5316220" cy="3708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0144" y="2540507"/>
              <a:ext cx="3791711" cy="9799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1944" y="3381755"/>
              <a:ext cx="5315711" cy="28666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15</a:t>
            </a:fld>
            <a:endParaRPr spc="-3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5661" y="1240358"/>
            <a:ext cx="23602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0" dirty="0"/>
              <a:t>Error</a:t>
            </a:r>
            <a:r>
              <a:rPr spc="-85" dirty="0"/>
              <a:t> </a:t>
            </a:r>
            <a:r>
              <a:rPr spc="-110" dirty="0"/>
              <a:t>Rate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0984" y="2852927"/>
            <a:ext cx="5590032" cy="11521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16</a:t>
            </a:fld>
            <a:endParaRPr spc="-3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8814" y="1240358"/>
            <a:ext cx="2214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Sensitivity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2566161"/>
            <a:ext cx="86988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sensitivity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model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measures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proportion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TP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examples 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52525"/>
                </a:solidFill>
                <a:latin typeface="Times New Roman"/>
                <a:cs typeface="Times New Roman"/>
              </a:rPr>
              <a:t>positive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cases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80" dirty="0">
                <a:solidFill>
                  <a:srgbClr val="252525"/>
                </a:solidFill>
                <a:latin typeface="Times New Roman"/>
                <a:cs typeface="Times New Roman"/>
              </a:rPr>
              <a:t>were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correctly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classified.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2859" y="3858767"/>
            <a:ext cx="4181855" cy="71475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17</a:t>
            </a:fld>
            <a:endParaRPr spc="-3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6621" y="1240358"/>
            <a:ext cx="2239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Specif</a:t>
            </a:r>
            <a:r>
              <a:rPr spc="-114" dirty="0"/>
              <a:t>i</a:t>
            </a:r>
            <a:r>
              <a:rPr spc="-160" dirty="0"/>
              <a:t>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2566161"/>
            <a:ext cx="9255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85" dirty="0">
                <a:solidFill>
                  <a:srgbClr val="252525"/>
                </a:solidFill>
                <a:latin typeface="Times New Roman"/>
                <a:cs typeface="Times New Roman"/>
              </a:rPr>
              <a:t>Specificity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model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measures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proportion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negative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examples which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have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been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correctly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classified.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8579" y="3685032"/>
            <a:ext cx="4200144" cy="8854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18</a:t>
            </a:fld>
            <a:endParaRPr spc="-3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3034" y="1240358"/>
            <a:ext cx="3266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Decision</a:t>
            </a:r>
            <a:r>
              <a:rPr spc="-80" dirty="0"/>
              <a:t> </a:t>
            </a:r>
            <a:r>
              <a:rPr spc="-110" dirty="0"/>
              <a:t>Trees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pc="120" dirty="0"/>
              <a:t>2</a:t>
            </a:r>
            <a:r>
              <a:rPr spc="70" dirty="0"/>
              <a:t>/</a:t>
            </a:r>
            <a:r>
              <a:rPr spc="120" dirty="0"/>
              <a:t>6</a:t>
            </a:r>
            <a:r>
              <a:rPr spc="70" dirty="0"/>
              <a:t>/</a:t>
            </a:r>
            <a:r>
              <a:rPr spc="-35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19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66161"/>
            <a:ext cx="8784590" cy="1281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Decision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learning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of</a:t>
            </a:r>
            <a:r>
              <a:rPr sz="2400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10" dirty="0">
                <a:solidFill>
                  <a:srgbClr val="252525"/>
                </a:solidFill>
                <a:latin typeface="Times New Roman"/>
                <a:cs typeface="Times New Roman"/>
              </a:rPr>
              <a:t>widely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adopted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algorithms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classification.</a:t>
            </a:r>
            <a:endParaRPr sz="2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175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85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name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indicates,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builds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model</a:t>
            </a:r>
            <a:r>
              <a:rPr sz="24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structure.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861048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3888" y="1909572"/>
              <a:ext cx="5468111" cy="289407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20</a:t>
            </a:fld>
            <a:endParaRPr spc="-3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297" y="1240358"/>
            <a:ext cx="66757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Decision</a:t>
            </a:r>
            <a:r>
              <a:rPr spc="-25" dirty="0"/>
              <a:t> </a:t>
            </a:r>
            <a:r>
              <a:rPr spc="-110" dirty="0"/>
              <a:t>Tree</a:t>
            </a:r>
            <a:r>
              <a:rPr spc="-30" dirty="0"/>
              <a:t> </a:t>
            </a:r>
            <a:r>
              <a:rPr spc="-4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21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69210"/>
            <a:ext cx="9213850" cy="299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41910" indent="-287020" algn="just">
              <a:lnSpc>
                <a:spcPct val="100000"/>
              </a:lnSpc>
              <a:spcBef>
                <a:spcPts val="95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720" algn="l"/>
              </a:tabLst>
            </a:pP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There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are </a:t>
            </a:r>
            <a:r>
              <a:rPr sz="2200" spc="-70" dirty="0">
                <a:solidFill>
                  <a:srgbClr val="252525"/>
                </a:solidFill>
                <a:latin typeface="Times New Roman"/>
                <a:cs typeface="Times New Roman"/>
              </a:rPr>
              <a:t>many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implementations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decision tree,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 most 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prominent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ones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being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C5.0,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CART </a:t>
            </a:r>
            <a:r>
              <a:rPr sz="2200" spc="-65" dirty="0">
                <a:solidFill>
                  <a:srgbClr val="252525"/>
                </a:solidFill>
                <a:latin typeface="Times New Roman"/>
                <a:cs typeface="Times New Roman"/>
              </a:rPr>
              <a:t>(Classification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and </a:t>
            </a:r>
            <a:r>
              <a:rPr sz="2200" spc="-60" dirty="0">
                <a:solidFill>
                  <a:srgbClr val="252525"/>
                </a:solidFill>
                <a:latin typeface="Times New Roman"/>
                <a:cs typeface="Times New Roman"/>
              </a:rPr>
              <a:t>Regression </a:t>
            </a:r>
            <a:r>
              <a:rPr sz="2200" spc="-70" dirty="0">
                <a:solidFill>
                  <a:srgbClr val="252525"/>
                </a:solidFill>
                <a:latin typeface="Times New Roman"/>
                <a:cs typeface="Times New Roman"/>
              </a:rPr>
              <a:t>Tree), 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CHAID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(Chi-square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Automatic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Interaction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Detector)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ID3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(Iterative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Dichotomiser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3)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algorithms.</a:t>
            </a:r>
            <a:endParaRPr sz="22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125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720" algn="l"/>
              </a:tabLst>
            </a:pP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biggest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65" dirty="0">
                <a:solidFill>
                  <a:srgbClr val="252525"/>
                </a:solidFill>
                <a:latin typeface="Times New Roman"/>
                <a:cs typeface="Times New Roman"/>
              </a:rPr>
              <a:t>challenge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2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decision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algorithm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find</a:t>
            </a:r>
            <a:r>
              <a:rPr sz="2200" spc="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out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6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299085" algn="just">
              <a:lnSpc>
                <a:spcPct val="100000"/>
              </a:lnSpc>
              <a:spcBef>
                <a:spcPts val="5"/>
              </a:spcBef>
            </a:pP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split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upon.</a:t>
            </a:r>
            <a:endParaRPr sz="22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1130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720" algn="l"/>
              </a:tabLst>
            </a:pP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main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driver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2200" spc="-65" dirty="0">
                <a:solidFill>
                  <a:srgbClr val="252525"/>
                </a:solidFill>
                <a:latin typeface="Times New Roman"/>
                <a:cs typeface="Times New Roman"/>
              </a:rPr>
              <a:t>identifying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feature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that the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data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should be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split in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such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50" dirty="0">
                <a:solidFill>
                  <a:srgbClr val="252525"/>
                </a:solidFill>
                <a:latin typeface="Times New Roman"/>
                <a:cs typeface="Times New Roman"/>
              </a:rPr>
              <a:t>way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that the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partitions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created </a:t>
            </a:r>
            <a:r>
              <a:rPr sz="2200" spc="-1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split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should contain </a:t>
            </a:r>
            <a:r>
              <a:rPr sz="2200" spc="-60" dirty="0">
                <a:solidFill>
                  <a:srgbClr val="252525"/>
                </a:solidFill>
                <a:latin typeface="Times New Roman"/>
                <a:cs typeface="Times New Roman"/>
              </a:rPr>
              <a:t>examples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belonging 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single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90" dirty="0">
                <a:solidFill>
                  <a:srgbClr val="252525"/>
                </a:solidFill>
                <a:latin typeface="Times New Roman"/>
                <a:cs typeface="Times New Roman"/>
              </a:rPr>
              <a:t>class.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2200" spc="2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happens,</a:t>
            </a:r>
            <a:r>
              <a:rPr sz="22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partitions</a:t>
            </a:r>
            <a:r>
              <a:rPr sz="22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considered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pure.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0838" y="1240358"/>
            <a:ext cx="18300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Entrop</a:t>
            </a:r>
            <a:r>
              <a:rPr spc="-365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2538729"/>
            <a:ext cx="9408160" cy="14090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99085" marR="796290" indent="-287020">
              <a:lnSpc>
                <a:spcPts val="2380"/>
              </a:lnSpc>
              <a:spcBef>
                <a:spcPts val="390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Entropy</a:t>
            </a:r>
            <a:r>
              <a:rPr sz="22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measure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impurity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3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attribute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adopted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252525"/>
                </a:solidFill>
                <a:latin typeface="Times New Roman"/>
                <a:cs typeface="Times New Roman"/>
              </a:rPr>
              <a:t>many </a:t>
            </a:r>
            <a:r>
              <a:rPr sz="2200" spc="-5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algorithms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such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ID3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C5.0.</a:t>
            </a:r>
            <a:endParaRPr sz="2200">
              <a:latin typeface="Times New Roman"/>
              <a:cs typeface="Times New Roman"/>
            </a:endParaRPr>
          </a:p>
          <a:p>
            <a:pPr marL="299085" indent="-287020">
              <a:lnSpc>
                <a:spcPts val="2510"/>
              </a:lnSpc>
              <a:spcBef>
                <a:spcPts val="825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Let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252525"/>
                </a:solidFill>
                <a:latin typeface="Times New Roman"/>
                <a:cs typeface="Times New Roman"/>
              </a:rPr>
              <a:t>say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7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sample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training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252525"/>
                </a:solidFill>
                <a:latin typeface="Times New Roman"/>
                <a:cs typeface="Times New Roman"/>
              </a:rPr>
              <a:t>examples.</a:t>
            </a:r>
            <a:r>
              <a:rPr sz="22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Then,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Entropy</a:t>
            </a:r>
            <a:r>
              <a:rPr sz="22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252525"/>
                </a:solidFill>
                <a:latin typeface="Times New Roman"/>
                <a:cs typeface="Times New Roman"/>
              </a:rPr>
              <a:t>(S)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measuring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ts val="2510"/>
              </a:lnSpc>
            </a:pP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im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200" spc="-60" dirty="0">
                <a:solidFill>
                  <a:srgbClr val="252525"/>
                </a:solidFill>
                <a:latin typeface="Times New Roman"/>
                <a:cs typeface="Times New Roman"/>
              </a:rPr>
              <a:t>urity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7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defi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ed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4922647"/>
            <a:ext cx="892238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ts val="2510"/>
              </a:lnSpc>
              <a:spcBef>
                <a:spcPts val="95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where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6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3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different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class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0" dirty="0">
                <a:solidFill>
                  <a:srgbClr val="252525"/>
                </a:solidFill>
                <a:latin typeface="Times New Roman"/>
                <a:cs typeface="Times New Roman"/>
              </a:rPr>
              <a:t>labels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refers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proportion</a:t>
            </a:r>
            <a:r>
              <a:rPr sz="22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ts val="2510"/>
              </a:lnSpc>
            </a:pP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values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falling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into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i-th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class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label.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7971" y="4027932"/>
            <a:ext cx="3496055" cy="8671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22</a:t>
            </a:fld>
            <a:endParaRPr spc="-3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8421" y="1240358"/>
            <a:ext cx="3914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Information</a:t>
            </a:r>
            <a:r>
              <a:rPr spc="-25" dirty="0"/>
              <a:t> </a:t>
            </a:r>
            <a:r>
              <a:rPr spc="-30" dirty="0"/>
              <a:t>Gain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994" y="2566161"/>
            <a:ext cx="9458960" cy="251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marR="30480" indent="-287020">
              <a:lnSpc>
                <a:spcPct val="100000"/>
              </a:lnSpc>
              <a:spcBef>
                <a:spcPts val="100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information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gain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calculated</a:t>
            </a:r>
            <a:r>
              <a:rPr sz="2400" spc="20" dirty="0">
                <a:solidFill>
                  <a:srgbClr val="252525"/>
                </a:solidFill>
                <a:latin typeface="Times New Roman"/>
                <a:cs typeface="Times New Roman"/>
              </a:rPr>
              <a:t> on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basis</a:t>
            </a:r>
            <a:r>
              <a:rPr sz="24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spc="3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decrease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entropy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30" dirty="0">
                <a:solidFill>
                  <a:srgbClr val="252525"/>
                </a:solidFill>
                <a:latin typeface="Times New Roman"/>
                <a:cs typeface="Times New Roman"/>
              </a:rPr>
              <a:t>(S)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after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split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according</a:t>
            </a:r>
            <a:r>
              <a:rPr sz="24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particular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attribute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52525"/>
                </a:solidFill>
                <a:latin typeface="Times New Roman"/>
                <a:cs typeface="Times New Roman"/>
              </a:rPr>
              <a:t>(A).</a:t>
            </a:r>
            <a:endParaRPr sz="2400">
              <a:latin typeface="Times New Roman"/>
              <a:cs typeface="Times New Roman"/>
            </a:endParaRPr>
          </a:p>
          <a:p>
            <a:pPr marL="324485" indent="-287020">
              <a:lnSpc>
                <a:spcPct val="100000"/>
              </a:lnSpc>
              <a:spcBef>
                <a:spcPts val="1175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Constructing</a:t>
            </a:r>
            <a:r>
              <a:rPr sz="24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decision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about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finding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attribute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returns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24485">
              <a:lnSpc>
                <a:spcPct val="100000"/>
              </a:lnSpc>
              <a:spcBef>
                <a:spcPts val="5"/>
              </a:spcBef>
            </a:pP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highest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information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gain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52525"/>
                </a:solidFill>
                <a:latin typeface="Times New Roman"/>
                <a:cs typeface="Times New Roman"/>
              </a:rPr>
              <a:t>(i.e.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homogeneous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branches).</a:t>
            </a:r>
            <a:endParaRPr sz="2400">
              <a:latin typeface="Times New Roman"/>
              <a:cs typeface="Times New Roman"/>
            </a:endParaRPr>
          </a:p>
          <a:p>
            <a:pPr marL="324485" marR="240665" indent="-287020">
              <a:lnSpc>
                <a:spcPct val="100000"/>
              </a:lnSpc>
              <a:spcBef>
                <a:spcPts val="1175"/>
              </a:spcBef>
              <a:buClr>
                <a:srgbClr val="AB936B"/>
              </a:buClr>
              <a:buSzPct val="114583"/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Information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0" dirty="0">
                <a:solidFill>
                  <a:srgbClr val="252525"/>
                </a:solidFill>
                <a:latin typeface="Times New Roman"/>
                <a:cs typeface="Times New Roman"/>
              </a:rPr>
              <a:t>gain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for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particular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feature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252525"/>
                </a:solidFill>
                <a:latin typeface="Times New Roman"/>
                <a:cs typeface="Times New Roman"/>
              </a:rPr>
              <a:t>calculated</a:t>
            </a:r>
            <a:r>
              <a:rPr sz="24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1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difference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entropy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before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split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(or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2400" spc="-112" baseline="-20833" dirty="0">
                <a:solidFill>
                  <a:srgbClr val="252525"/>
                </a:solidFill>
                <a:latin typeface="Times New Roman"/>
                <a:cs typeface="Times New Roman"/>
              </a:rPr>
              <a:t>bs</a:t>
            </a:r>
            <a:r>
              <a:rPr sz="2400" spc="315" baseline="-2083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entropy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after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2400" spc="-50" dirty="0">
                <a:solidFill>
                  <a:srgbClr val="252525"/>
                </a:solidFill>
                <a:latin typeface="Times New Roman"/>
                <a:cs typeface="Times New Roman"/>
              </a:rPr>
              <a:t>split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252525"/>
                </a:solidFill>
                <a:latin typeface="Times New Roman"/>
                <a:cs typeface="Times New Roman"/>
              </a:rPr>
              <a:t>(S</a:t>
            </a:r>
            <a:r>
              <a:rPr sz="2400" spc="-150" baseline="-20833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2400" spc="-112" baseline="-2083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5555" y="5359908"/>
            <a:ext cx="5085588" cy="609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23</a:t>
            </a:fld>
            <a:endParaRPr spc="-3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4580" y="0"/>
            <a:ext cx="686104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24</a:t>
            </a:fld>
            <a:endParaRPr spc="-3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0"/>
            <a:ext cx="10972800" cy="6857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25</a:t>
            </a:fld>
            <a:endParaRPr spc="-3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19" y="981443"/>
            <a:ext cx="11330940" cy="48248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26</a:t>
            </a:fld>
            <a:endParaRPr spc="-3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296" y="981455"/>
            <a:ext cx="10524744" cy="48066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27</a:t>
            </a:fld>
            <a:endParaRPr spc="-3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5400" y="731519"/>
            <a:ext cx="9814560" cy="5238115"/>
            <a:chOff x="1295400" y="731519"/>
            <a:chExt cx="9814560" cy="52381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731519"/>
              <a:ext cx="9797796" cy="18821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2613659"/>
              <a:ext cx="9814560" cy="335584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28</a:t>
            </a:fld>
            <a:endParaRPr spc="-3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0546" y="1240358"/>
            <a:ext cx="1930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Aptitude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29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374394" y="2569210"/>
            <a:ext cx="9168765" cy="314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215265" indent="-287020">
              <a:lnSpc>
                <a:spcPct val="100000"/>
              </a:lnSpc>
              <a:spcBef>
                <a:spcPts val="95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Hence,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quite</a:t>
            </a: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evident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among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features,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Aptitude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results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best </a:t>
            </a:r>
            <a:r>
              <a:rPr sz="2200" spc="-5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information</a:t>
            </a:r>
            <a:r>
              <a:rPr sz="22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65" dirty="0">
                <a:solidFill>
                  <a:srgbClr val="252525"/>
                </a:solidFill>
                <a:latin typeface="Times New Roman"/>
                <a:cs typeface="Times New Roman"/>
              </a:rPr>
              <a:t>gain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0" dirty="0">
                <a:solidFill>
                  <a:srgbClr val="252525"/>
                </a:solidFill>
                <a:latin typeface="Times New Roman"/>
                <a:cs typeface="Times New Roman"/>
              </a:rPr>
              <a:t>when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Times New Roman"/>
                <a:cs typeface="Times New Roman"/>
              </a:rPr>
              <a:t>adopted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split.</a:t>
            </a:r>
            <a:endParaRPr sz="22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125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110" dirty="0">
                <a:solidFill>
                  <a:srgbClr val="252525"/>
                </a:solidFill>
                <a:latin typeface="Times New Roman"/>
                <a:cs typeface="Times New Roman"/>
              </a:rPr>
              <a:t>So,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at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first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90" dirty="0">
                <a:solidFill>
                  <a:srgbClr val="252525"/>
                </a:solidFill>
                <a:latin typeface="Times New Roman"/>
                <a:cs typeface="Times New Roman"/>
              </a:rPr>
              <a:t>level,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split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252525"/>
                </a:solidFill>
                <a:latin typeface="Times New Roman"/>
                <a:cs typeface="Times New Roman"/>
              </a:rPr>
              <a:t>will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applied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according</a:t>
            </a:r>
            <a:r>
              <a:rPr sz="22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value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Aptitude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65" dirty="0">
                <a:solidFill>
                  <a:srgbClr val="252525"/>
                </a:solidFill>
                <a:latin typeface="Times New Roman"/>
                <a:cs typeface="Times New Roman"/>
              </a:rPr>
              <a:t>words,</a:t>
            </a: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Aptitude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252525"/>
                </a:solidFill>
                <a:latin typeface="Times New Roman"/>
                <a:cs typeface="Times New Roman"/>
              </a:rPr>
              <a:t>will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first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decision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formed.</a:t>
            </a:r>
            <a:endParaRPr sz="22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1135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25" dirty="0">
                <a:solidFill>
                  <a:srgbClr val="252525"/>
                </a:solidFill>
                <a:latin typeface="Times New Roman"/>
                <a:cs typeface="Times New Roman"/>
              </a:rPr>
              <a:t>One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important point 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be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noted </a:t>
            </a: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here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Aptitude </a:t>
            </a:r>
            <a:r>
              <a:rPr sz="2200" spc="220" dirty="0">
                <a:solidFill>
                  <a:srgbClr val="252525"/>
                </a:solidFill>
                <a:latin typeface="Times New Roman"/>
                <a:cs typeface="Times New Roman"/>
              </a:rPr>
              <a:t>= </a:t>
            </a:r>
            <a:r>
              <a:rPr sz="2200" spc="-130" dirty="0">
                <a:solidFill>
                  <a:srgbClr val="252525"/>
                </a:solidFill>
                <a:latin typeface="Times New Roman"/>
                <a:cs typeface="Times New Roman"/>
              </a:rPr>
              <a:t>Low,</a:t>
            </a:r>
            <a:r>
              <a:rPr sz="2200" spc="-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entropy </a:t>
            </a:r>
            <a:r>
              <a:rPr sz="2200" spc="-8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2200" spc="-75" dirty="0">
                <a:solidFill>
                  <a:srgbClr val="252525"/>
                </a:solidFill>
                <a:latin typeface="Times New Roman"/>
                <a:cs typeface="Times New Roman"/>
              </a:rPr>
              <a:t>0, </a:t>
            </a:r>
            <a:r>
              <a:rPr sz="22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6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indicates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252525"/>
                </a:solidFill>
                <a:latin typeface="Times New Roman"/>
                <a:cs typeface="Times New Roman"/>
              </a:rPr>
              <a:t>always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result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252525"/>
                </a:solidFill>
                <a:latin typeface="Times New Roman"/>
                <a:cs typeface="Times New Roman"/>
              </a:rPr>
              <a:t>will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252525"/>
                </a:solidFill>
                <a:latin typeface="Times New Roman"/>
                <a:cs typeface="Times New Roman"/>
              </a:rPr>
              <a:t>same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irrespective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2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values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2200" spc="-5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52525"/>
                </a:solidFill>
                <a:latin typeface="Times New Roman"/>
                <a:cs typeface="Times New Roman"/>
              </a:rPr>
              <a:t>features.</a:t>
            </a:r>
            <a:endParaRPr sz="22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130"/>
              </a:spcBef>
              <a:buClr>
                <a:srgbClr val="AB936B"/>
              </a:buClr>
              <a:buSzPct val="113636"/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200" spc="-35" dirty="0">
                <a:solidFill>
                  <a:srgbClr val="252525"/>
                </a:solidFill>
                <a:latin typeface="Times New Roman"/>
                <a:cs typeface="Times New Roman"/>
              </a:rPr>
              <a:t>Hence,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branch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towards</a:t>
            </a:r>
            <a:r>
              <a:rPr sz="22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Aptitude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22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80" dirty="0">
                <a:solidFill>
                  <a:srgbClr val="252525"/>
                </a:solidFill>
                <a:latin typeface="Times New Roman"/>
                <a:cs typeface="Times New Roman"/>
              </a:rPr>
              <a:t>Low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114" dirty="0">
                <a:solidFill>
                  <a:srgbClr val="252525"/>
                </a:solidFill>
                <a:latin typeface="Times New Roman"/>
                <a:cs typeface="Times New Roman"/>
              </a:rPr>
              <a:t>will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15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252525"/>
                </a:solidFill>
                <a:latin typeface="Times New Roman"/>
                <a:cs typeface="Times New Roman"/>
              </a:rPr>
              <a:t>continue</a:t>
            </a:r>
            <a:r>
              <a:rPr sz="22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90" dirty="0">
                <a:solidFill>
                  <a:srgbClr val="252525"/>
                </a:solidFill>
                <a:latin typeface="Times New Roman"/>
                <a:cs typeface="Times New Roman"/>
              </a:rPr>
              <a:t>any</a:t>
            </a:r>
            <a:r>
              <a:rPr sz="22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Times New Roman"/>
                <a:cs typeface="Times New Roman"/>
              </a:rPr>
              <a:t>further.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0"/>
            <a:ext cx="11361420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30</a:t>
            </a:fld>
            <a:endParaRPr spc="-3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8267" y="1290827"/>
            <a:ext cx="4192524" cy="38709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31</a:t>
            </a:fld>
            <a:endParaRPr spc="-3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95983" y="981455"/>
            <a:ext cx="9407525" cy="4668520"/>
            <a:chOff x="1395983" y="981455"/>
            <a:chExt cx="9407525" cy="4668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5247" y="981455"/>
              <a:ext cx="7555992" cy="13883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2079" y="2369819"/>
              <a:ext cx="9124188" cy="327964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32</a:t>
            </a:fld>
            <a:endParaRPr spc="-3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3180" y="0"/>
            <a:ext cx="6537959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33</a:t>
            </a:fld>
            <a:endParaRPr spc="-3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10202" y="3427176"/>
            <a:ext cx="142875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2400" b="1" spc="-75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5983" y="0"/>
            <a:ext cx="9407525" cy="6858000"/>
            <a:chOff x="1395983" y="0"/>
            <a:chExt cx="9407525" cy="6858000"/>
          </a:xfrm>
        </p:grpSpPr>
        <p:sp>
          <p:nvSpPr>
            <p:cNvPr id="5" name="object 5"/>
            <p:cNvSpPr/>
            <p:nvPr/>
          </p:nvSpPr>
          <p:spPr>
            <a:xfrm>
              <a:off x="1395983" y="2421635"/>
              <a:ext cx="9407525" cy="0"/>
            </a:xfrm>
            <a:custGeom>
              <a:avLst/>
              <a:gdLst/>
              <a:ahLst/>
              <a:cxnLst/>
              <a:rect l="l" t="t" r="r" b="b"/>
              <a:pathLst>
                <a:path w="9407525">
                  <a:moveTo>
                    <a:pt x="0" y="0"/>
                  </a:moveTo>
                  <a:lnTo>
                    <a:pt x="9407271" y="0"/>
                  </a:lnTo>
                </a:path>
              </a:pathLst>
            </a:custGeom>
            <a:ln w="15240">
              <a:solidFill>
                <a:srgbClr val="AB93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5911" y="0"/>
              <a:ext cx="5980176" cy="685799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317491" y="3363467"/>
            <a:ext cx="242570" cy="4622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70"/>
              </a:spcBef>
            </a:pPr>
            <a:r>
              <a:rPr sz="2400" b="1" spc="-75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34</a:t>
            </a:fld>
            <a:endParaRPr spc="-3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0" y="0"/>
            <a:ext cx="8887968" cy="6857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35</a:t>
            </a:fld>
            <a:endParaRPr spc="-3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591312"/>
            <a:ext cx="10162032" cy="53781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spc="-35" dirty="0"/>
              <a:t>36</a:t>
            </a:fld>
            <a:endParaRPr spc="-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878</Words>
  <Application>Microsoft Office PowerPoint</Application>
  <PresentationFormat>Widescreen</PresentationFormat>
  <Paragraphs>123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 MT</vt:lpstr>
      <vt:lpstr>Calibri</vt:lpstr>
      <vt:lpstr>Microsoft Sans Serif</vt:lpstr>
      <vt:lpstr>Times New Roman</vt:lpstr>
      <vt:lpstr>Office Theme</vt:lpstr>
      <vt:lpstr>PowerPoint Presentation</vt:lpstr>
      <vt:lpstr>What is Machine Learning?</vt:lpstr>
      <vt:lpstr>Machine Learning Types</vt:lpstr>
      <vt:lpstr>Supervised Learning Process</vt:lpstr>
      <vt:lpstr>Feature Engineering</vt:lpstr>
      <vt:lpstr>Feature Transformation</vt:lpstr>
      <vt:lpstr>Feature Subset Selection</vt:lpstr>
      <vt:lpstr>Polynomial Regression</vt:lpstr>
      <vt:lpstr>kNN –k Nearest Neighbours</vt:lpstr>
      <vt:lpstr>kNN –k Nearest Neighbours</vt:lpstr>
      <vt:lpstr>kNN –k Nearest Neighbours</vt:lpstr>
      <vt:lpstr>kNN –k Nearest Neighbours</vt:lpstr>
      <vt:lpstr>kNN –k Nearest Neighbours</vt:lpstr>
      <vt:lpstr>Confusion Matrix</vt:lpstr>
      <vt:lpstr>Model Accuracy</vt:lpstr>
      <vt:lpstr>Error Rate</vt:lpstr>
      <vt:lpstr>Sensitivity</vt:lpstr>
      <vt:lpstr>Specificity</vt:lpstr>
      <vt:lpstr>Decision Trees</vt:lpstr>
      <vt:lpstr>PowerPoint Presentation</vt:lpstr>
      <vt:lpstr>Decision Tree Implementation</vt:lpstr>
      <vt:lpstr>Entropy</vt:lpstr>
      <vt:lpstr>Information Gain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Aptitude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&amp; Deep Learning Using Python</dc:title>
  <dc:creator>Asus</dc:creator>
  <cp:lastModifiedBy>swati</cp:lastModifiedBy>
  <cp:revision>1</cp:revision>
  <dcterms:created xsi:type="dcterms:W3CDTF">2024-05-22T04:26:41Z</dcterms:created>
  <dcterms:modified xsi:type="dcterms:W3CDTF">2024-05-22T04:30:17Z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2024-05-22T00:00:00Z</vt:filetime>
  </property>
</Properties>
</file>